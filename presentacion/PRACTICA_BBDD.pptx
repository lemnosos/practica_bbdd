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2" r:id="rId4"/>
    <p:sldId id="264" r:id="rId5"/>
    <p:sldId id="268" r:id="rId6"/>
    <p:sldId id="263" r:id="rId7"/>
    <p:sldId id="267" r:id="rId8"/>
    <p:sldId id="258" r:id="rId9"/>
    <p:sldId id="259" r:id="rId10"/>
    <p:sldId id="260" r:id="rId11"/>
    <p:sldId id="261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039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1048B-DF0F-24D8-2CA9-07B0FA7E4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45784D-5FC5-2544-9433-ABABBC30E0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0CE2EC-B8A8-CF90-9690-B37AF0C3D7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59EE6-64AE-EF77-FD02-78C0D09F57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6773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9F720-A58D-6943-95C4-6EF8CF2EC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6506E4-1917-97FE-CA65-DBF3660675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24EBA5-3ABD-700F-C328-319D8ED7B8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CD5737-4111-E04B-B44B-03AF0C374E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74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C5D6D-14F9-2AFA-9ED6-93757582A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FD64F5-DA17-478E-A024-DB98C1795A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7AF32E-EB1D-B2CC-23C5-B709F66BC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5DECC-BDDE-B9DE-C260-2F47AAE62C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7282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CF329-ED7E-6C43-23B2-96E6F57A1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97A857-A158-E3B7-9F5E-5A47EE4312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2BD4AC-7F53-236A-6813-DBC62957AB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D4B93D-A5C2-FF7E-7E3C-B1D43FD7E2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4985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58651-9306-AD94-A49D-B3168463B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6804FD-6D7F-97AA-7FA2-99D4BC55A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86C7CD-5525-BF23-AEC9-1E386DB8E6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654CBB-2513-5FA4-F59D-988C752BFC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9493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474720"/>
            <a:ext cx="2286000" cy="1668780"/>
          </a:xfrm>
          <a:prstGeom prst="rect">
            <a:avLst/>
          </a:prstGeom>
          <a:solidFill>
            <a:srgbClr val="0D9488">
              <a:alpha val="25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872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Practica BBDD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2926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PostgreSQL · Render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347472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relacional normalizada para gestión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campus, verticales, estudiantes y calificaciones</a:t>
            </a:r>
            <a:endParaRPr lang="en-US" sz="130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7515A6E3-9CA9-1A31-11AD-C6D36D4E2C21}"/>
              </a:ext>
            </a:extLst>
          </p:cNvPr>
          <p:cNvSpPr/>
          <p:nvPr/>
        </p:nvSpPr>
        <p:spPr>
          <a:xfrm>
            <a:off x="6496050" y="320040"/>
            <a:ext cx="2190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 </a:t>
            </a:r>
            <a:r>
              <a:rPr lang="en-US" sz="1300" dirty="0" err="1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Alvargonzalez</a:t>
            </a:r>
            <a:endParaRPr lang="en-US" sz="1300" dirty="0">
              <a:solidFill>
                <a:srgbClr val="A0B4C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rgbClr val="A0B4C8"/>
                </a:solidFill>
                <a:latin typeface="Calibri" pitchFamily="34" charset="0"/>
                <a:cs typeface="Calibri" pitchFamily="34" charset="-120"/>
              </a:rPr>
              <a:t>Iñigo </a:t>
            </a:r>
            <a:r>
              <a:rPr lang="en-US" sz="1300" dirty="0" err="1">
                <a:solidFill>
                  <a:srgbClr val="A0B4C8"/>
                </a:solidFill>
                <a:latin typeface="Calibri" pitchFamily="34" charset="0"/>
                <a:cs typeface="Calibri" pitchFamily="34" charset="-120"/>
              </a:rPr>
              <a:t>Ibarlucea</a:t>
            </a:r>
            <a:r>
              <a:rPr lang="en-US" sz="1300" dirty="0">
                <a:solidFill>
                  <a:srgbClr val="A0B4C8"/>
                </a:solidFill>
                <a:latin typeface="Calibri" pitchFamily="34" charset="0"/>
                <a:cs typeface="Calibri" pitchFamily="34" charset="-120"/>
              </a:rPr>
              <a:t> Moreno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A0B4C8"/>
                </a:solidFill>
                <a:latin typeface="Calibri" pitchFamily="34" charset="0"/>
                <a:cs typeface="Calibri" pitchFamily="34" charset="-120"/>
              </a:rPr>
              <a:t>Nora </a:t>
            </a:r>
            <a:r>
              <a:rPr lang="en-US" sz="1300" dirty="0" err="1">
                <a:solidFill>
                  <a:srgbClr val="A0B4C8"/>
                </a:solidFill>
                <a:latin typeface="Calibri" pitchFamily="34" charset="0"/>
                <a:cs typeface="Calibri" pitchFamily="34" charset="-120"/>
              </a:rPr>
              <a:t>Galparsolo</a:t>
            </a:r>
            <a:endParaRPr lang="en-US" sz="1300" dirty="0">
              <a:solidFill>
                <a:srgbClr val="A0B4C8"/>
              </a:solidFill>
              <a:latin typeface="Calibri" pitchFamily="34" charset="0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rgbClr val="A0B4C8"/>
                </a:solidFill>
                <a:latin typeface="Calibri" pitchFamily="34" charset="0"/>
                <a:cs typeface="Calibri" pitchFamily="34" charset="-120"/>
              </a:rPr>
              <a:t>Raúl Marcos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B4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Datos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Iniciales</a:t>
            </a:r>
            <a:endParaRPr lang="en-US" sz="2200" dirty="0"/>
          </a:p>
        </p:txBody>
      </p:sp>
      <p:grpSp>
        <p:nvGrpSpPr>
          <p:cNvPr id="56" name="Grupo 55">
            <a:extLst>
              <a:ext uri="{FF2B5EF4-FFF2-40B4-BE49-F238E27FC236}">
                <a16:creationId xmlns:a16="http://schemas.microsoft.com/office/drawing/2014/main" id="{B6D9831F-72FE-FB87-1B6C-ED21FD4E7E3F}"/>
              </a:ext>
            </a:extLst>
          </p:cNvPr>
          <p:cNvGrpSpPr/>
          <p:nvPr/>
        </p:nvGrpSpPr>
        <p:grpSpPr>
          <a:xfrm>
            <a:off x="320040" y="1051560"/>
            <a:ext cx="2651760" cy="1297940"/>
            <a:chOff x="320040" y="1051560"/>
            <a:chExt cx="2651760" cy="1297940"/>
          </a:xfrm>
        </p:grpSpPr>
        <p:sp>
          <p:nvSpPr>
            <p:cNvPr id="5" name="Shape 2"/>
            <p:cNvSpPr/>
            <p:nvPr/>
          </p:nvSpPr>
          <p:spPr>
            <a:xfrm>
              <a:off x="320040" y="1051560"/>
              <a:ext cx="2651760" cy="12979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127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6" name="Shape 3"/>
            <p:cNvSpPr/>
            <p:nvPr/>
          </p:nvSpPr>
          <p:spPr>
            <a:xfrm>
              <a:off x="320040" y="1051560"/>
              <a:ext cx="54864" cy="1297940"/>
            </a:xfrm>
            <a:prstGeom prst="rect">
              <a:avLst/>
            </a:prstGeom>
            <a:solidFill>
              <a:srgbClr val="0D9488"/>
            </a:solidFill>
            <a:ln/>
          </p:spPr>
        </p:sp>
        <p:sp>
          <p:nvSpPr>
            <p:cNvPr id="7" name="Text 4"/>
            <p:cNvSpPr/>
            <p:nvPr/>
          </p:nvSpPr>
          <p:spPr>
            <a:xfrm>
              <a:off x="448056" y="1106424"/>
              <a:ext cx="2468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Clase 1</a:t>
              </a:r>
              <a:endParaRPr lang="en-US" sz="11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438912" y="1709928"/>
              <a:ext cx="24688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 err="1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Nombe</a:t>
              </a:r>
              <a:r>
                <a:rPr lang="en-US" sz="95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;</a:t>
              </a:r>
            </a:p>
            <a:p>
              <a:pPr marL="0" indent="0" algn="l">
                <a:buNone/>
              </a:pPr>
              <a:r>
                <a:rPr lang="en-US" sz="95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Email;</a:t>
              </a:r>
            </a:p>
            <a:p>
              <a:pPr marL="0" indent="0" algn="l">
                <a:buNone/>
              </a:pPr>
              <a:r>
                <a:rPr lang="en-US" sz="950" dirty="0" err="1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Promocion</a:t>
              </a:r>
              <a:r>
                <a:rPr lang="en-US" sz="95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;</a:t>
              </a:r>
            </a:p>
            <a:p>
              <a:pPr marL="0" indent="0" algn="l">
                <a:buNone/>
              </a:pPr>
              <a:r>
                <a:rPr lang="en-US" sz="950" dirty="0" err="1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Fecha</a:t>
              </a:r>
              <a:r>
                <a:rPr lang="en-US" sz="95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sz="950" dirty="0" err="1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comienzo</a:t>
              </a:r>
              <a:r>
                <a:rPr lang="en-US" sz="95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;</a:t>
              </a:r>
            </a:p>
            <a:p>
              <a:pPr marL="0" indent="0" algn="l">
                <a:buNone/>
              </a:pPr>
              <a:r>
                <a:rPr lang="en-US" sz="95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Campus;</a:t>
              </a:r>
            </a:p>
            <a:p>
              <a:pPr marL="0" indent="0" algn="l">
                <a:buNone/>
              </a:pPr>
              <a:r>
                <a:rPr lang="en-US" sz="950" dirty="0" err="1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Proyecto_HLF</a:t>
              </a:r>
              <a:r>
                <a:rPr lang="en-US" sz="95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; </a:t>
              </a:r>
              <a:r>
                <a:rPr lang="en-US" sz="950" dirty="0" err="1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Propyecto</a:t>
              </a:r>
              <a:r>
                <a:rPr lang="en-US" sz="95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 _EDA; </a:t>
              </a:r>
              <a:r>
                <a:rPr lang="en-US" sz="950" dirty="0" err="1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Proyecto_BBDD</a:t>
              </a:r>
              <a:r>
                <a:rPr lang="en-US" sz="95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;</a:t>
              </a:r>
            </a:p>
            <a:p>
              <a:pPr marL="0" indent="0" algn="l">
                <a:buNone/>
              </a:pPr>
              <a:r>
                <a:rPr lang="en-US" sz="950" dirty="0" err="1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Proyecto_ML</a:t>
              </a:r>
              <a:r>
                <a:rPr lang="en-US" sz="95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; </a:t>
              </a:r>
              <a:r>
                <a:rPr lang="en-US" sz="950" dirty="0" err="1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Proyecto_Deployment</a:t>
              </a:r>
              <a:endParaRPr lang="en-US" sz="950" dirty="0"/>
            </a:p>
          </p:txBody>
        </p:sp>
      </p:grpSp>
      <p:grpSp>
        <p:nvGrpSpPr>
          <p:cNvPr id="49" name="Grupo 48">
            <a:extLst>
              <a:ext uri="{FF2B5EF4-FFF2-40B4-BE49-F238E27FC236}">
                <a16:creationId xmlns:a16="http://schemas.microsoft.com/office/drawing/2014/main" id="{8120BA9D-13F1-0B66-EDCB-7D2494B7D640}"/>
              </a:ext>
            </a:extLst>
          </p:cNvPr>
          <p:cNvGrpSpPr/>
          <p:nvPr/>
        </p:nvGrpSpPr>
        <p:grpSpPr>
          <a:xfrm>
            <a:off x="320040" y="2489474"/>
            <a:ext cx="2651760" cy="1707874"/>
            <a:chOff x="3154680" y="1781503"/>
            <a:chExt cx="2651760" cy="714809"/>
          </a:xfrm>
        </p:grpSpPr>
        <p:sp>
          <p:nvSpPr>
            <p:cNvPr id="21" name="Shape 18"/>
            <p:cNvSpPr/>
            <p:nvPr/>
          </p:nvSpPr>
          <p:spPr>
            <a:xfrm>
              <a:off x="3154680" y="1837944"/>
              <a:ext cx="2651760" cy="65836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127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2" name="Shape 19"/>
            <p:cNvSpPr/>
            <p:nvPr/>
          </p:nvSpPr>
          <p:spPr>
            <a:xfrm>
              <a:off x="3154680" y="1837944"/>
              <a:ext cx="54864" cy="658368"/>
            </a:xfrm>
            <a:prstGeom prst="rect">
              <a:avLst/>
            </a:prstGeom>
            <a:solidFill>
              <a:srgbClr val="7C3AED"/>
            </a:solidFill>
            <a:ln/>
          </p:spPr>
        </p:sp>
        <p:sp>
          <p:nvSpPr>
            <p:cNvPr id="23" name="Text 20"/>
            <p:cNvSpPr/>
            <p:nvPr/>
          </p:nvSpPr>
          <p:spPr>
            <a:xfrm>
              <a:off x="3282696" y="1781503"/>
              <a:ext cx="2468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Consolas" pitchFamily="34" charset="0"/>
                </a:rPr>
                <a:t>Clase 3</a:t>
              </a:r>
              <a:endParaRPr lang="en-US" sz="1100" dirty="0"/>
            </a:p>
          </p:txBody>
        </p:sp>
      </p:grpSp>
      <p:sp>
        <p:nvSpPr>
          <p:cNvPr id="25" name="Shape 22"/>
          <p:cNvSpPr/>
          <p:nvPr/>
        </p:nvSpPr>
        <p:spPr>
          <a:xfrm>
            <a:off x="5989320" y="1837944"/>
            <a:ext cx="2651760" cy="149580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989320" y="1837944"/>
            <a:ext cx="64008" cy="149580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6117336" y="18928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</a:rPr>
              <a:t>CLAUSTRO</a:t>
            </a:r>
            <a:endParaRPr lang="en-US" sz="1100" dirty="0"/>
          </a:p>
        </p:txBody>
      </p:sp>
      <p:grpSp>
        <p:nvGrpSpPr>
          <p:cNvPr id="50" name="Grupo 49">
            <a:extLst>
              <a:ext uri="{FF2B5EF4-FFF2-40B4-BE49-F238E27FC236}">
                <a16:creationId xmlns:a16="http://schemas.microsoft.com/office/drawing/2014/main" id="{7E0545A3-C519-2CAA-509E-7B88367CB6C2}"/>
              </a:ext>
            </a:extLst>
          </p:cNvPr>
          <p:cNvGrpSpPr/>
          <p:nvPr/>
        </p:nvGrpSpPr>
        <p:grpSpPr>
          <a:xfrm>
            <a:off x="3182112" y="2464148"/>
            <a:ext cx="2651760" cy="1733201"/>
            <a:chOff x="3154680" y="1770903"/>
            <a:chExt cx="2651760" cy="725409"/>
          </a:xfrm>
        </p:grpSpPr>
        <p:sp>
          <p:nvSpPr>
            <p:cNvPr id="51" name="Shape 18">
              <a:extLst>
                <a:ext uri="{FF2B5EF4-FFF2-40B4-BE49-F238E27FC236}">
                  <a16:creationId xmlns:a16="http://schemas.microsoft.com/office/drawing/2014/main" id="{AF88DC96-7D1E-6563-6923-74F938832B88}"/>
                </a:ext>
              </a:extLst>
            </p:cNvPr>
            <p:cNvSpPr/>
            <p:nvPr/>
          </p:nvSpPr>
          <p:spPr>
            <a:xfrm>
              <a:off x="3154680" y="1837944"/>
              <a:ext cx="2651760" cy="65836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127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52" name="Shape 19">
              <a:extLst>
                <a:ext uri="{FF2B5EF4-FFF2-40B4-BE49-F238E27FC236}">
                  <a16:creationId xmlns:a16="http://schemas.microsoft.com/office/drawing/2014/main" id="{7DB0A0D2-BA2B-F63E-C510-500EC9BA8C34}"/>
                </a:ext>
              </a:extLst>
            </p:cNvPr>
            <p:cNvSpPr/>
            <p:nvPr/>
          </p:nvSpPr>
          <p:spPr>
            <a:xfrm>
              <a:off x="3154680" y="1837944"/>
              <a:ext cx="54864" cy="658368"/>
            </a:xfrm>
            <a:prstGeom prst="rect">
              <a:avLst/>
            </a:prstGeom>
            <a:solidFill>
              <a:srgbClr val="7C3AED"/>
            </a:solidFill>
            <a:ln/>
          </p:spPr>
        </p:sp>
        <p:sp>
          <p:nvSpPr>
            <p:cNvPr id="53" name="Text 20">
              <a:extLst>
                <a:ext uri="{FF2B5EF4-FFF2-40B4-BE49-F238E27FC236}">
                  <a16:creationId xmlns:a16="http://schemas.microsoft.com/office/drawing/2014/main" id="{4AF2C2B8-41A9-5220-BADF-EBAABB709677}"/>
                </a:ext>
              </a:extLst>
            </p:cNvPr>
            <p:cNvSpPr/>
            <p:nvPr/>
          </p:nvSpPr>
          <p:spPr>
            <a:xfrm>
              <a:off x="3273552" y="1770903"/>
              <a:ext cx="2468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Consolas" pitchFamily="34" charset="0"/>
                </a:rPr>
                <a:t>Clase 4</a:t>
              </a:r>
              <a:endParaRPr lang="en-US" sz="1100" dirty="0"/>
            </a:p>
          </p:txBody>
        </p:sp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18EEBF7E-5CFB-5DA5-D929-48DD7E3D3031}"/>
              </a:ext>
            </a:extLst>
          </p:cNvPr>
          <p:cNvGrpSpPr/>
          <p:nvPr/>
        </p:nvGrpSpPr>
        <p:grpSpPr>
          <a:xfrm>
            <a:off x="3182112" y="1070356"/>
            <a:ext cx="2651760" cy="1297940"/>
            <a:chOff x="320040" y="1051560"/>
            <a:chExt cx="2651760" cy="1297940"/>
          </a:xfrm>
        </p:grpSpPr>
        <p:sp>
          <p:nvSpPr>
            <p:cNvPr id="58" name="Shape 2">
              <a:extLst>
                <a:ext uri="{FF2B5EF4-FFF2-40B4-BE49-F238E27FC236}">
                  <a16:creationId xmlns:a16="http://schemas.microsoft.com/office/drawing/2014/main" id="{5040E0C6-B8E8-FD50-E8E5-6B91E98225D4}"/>
                </a:ext>
              </a:extLst>
            </p:cNvPr>
            <p:cNvSpPr/>
            <p:nvPr/>
          </p:nvSpPr>
          <p:spPr>
            <a:xfrm>
              <a:off x="320040" y="1051560"/>
              <a:ext cx="2651760" cy="12979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sp>
          <p:nvSpPr>
            <p:cNvPr id="59" name="Shape 3">
              <a:extLst>
                <a:ext uri="{FF2B5EF4-FFF2-40B4-BE49-F238E27FC236}">
                  <a16:creationId xmlns:a16="http://schemas.microsoft.com/office/drawing/2014/main" id="{9AFB22D9-B821-275F-1C77-66C074BEC9E0}"/>
                </a:ext>
              </a:extLst>
            </p:cNvPr>
            <p:cNvSpPr/>
            <p:nvPr/>
          </p:nvSpPr>
          <p:spPr>
            <a:xfrm>
              <a:off x="320040" y="1051560"/>
              <a:ext cx="54864" cy="1297940"/>
            </a:xfrm>
            <a:prstGeom prst="rect">
              <a:avLst/>
            </a:prstGeom>
            <a:solidFill>
              <a:srgbClr val="0D9488"/>
            </a:solidFill>
            <a:ln/>
          </p:spPr>
        </p:sp>
        <p:sp>
          <p:nvSpPr>
            <p:cNvPr id="60" name="Text 4">
              <a:extLst>
                <a:ext uri="{FF2B5EF4-FFF2-40B4-BE49-F238E27FC236}">
                  <a16:creationId xmlns:a16="http://schemas.microsoft.com/office/drawing/2014/main" id="{CE77A517-1518-453A-8F84-9021715E943C}"/>
                </a:ext>
              </a:extLst>
            </p:cNvPr>
            <p:cNvSpPr/>
            <p:nvPr/>
          </p:nvSpPr>
          <p:spPr>
            <a:xfrm>
              <a:off x="448056" y="1106424"/>
              <a:ext cx="2468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Clase 2</a:t>
              </a:r>
              <a:endParaRPr lang="en-US" sz="1100" dirty="0"/>
            </a:p>
          </p:txBody>
        </p:sp>
        <p:sp>
          <p:nvSpPr>
            <p:cNvPr id="61" name="Text 5">
              <a:extLst>
                <a:ext uri="{FF2B5EF4-FFF2-40B4-BE49-F238E27FC236}">
                  <a16:creationId xmlns:a16="http://schemas.microsoft.com/office/drawing/2014/main" id="{3315AE65-AAB6-B14B-C0F6-CE99064A3582}"/>
                </a:ext>
              </a:extLst>
            </p:cNvPr>
            <p:cNvSpPr/>
            <p:nvPr/>
          </p:nvSpPr>
          <p:spPr>
            <a:xfrm>
              <a:off x="438912" y="1709928"/>
              <a:ext cx="24688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 err="1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Nombe</a:t>
              </a:r>
              <a:r>
                <a:rPr lang="en-US" sz="95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;</a:t>
              </a:r>
            </a:p>
            <a:p>
              <a:pPr marL="0" indent="0" algn="l">
                <a:buNone/>
              </a:pPr>
              <a:r>
                <a:rPr lang="en-US" sz="95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Email;</a:t>
              </a:r>
            </a:p>
            <a:p>
              <a:pPr marL="0" indent="0" algn="l">
                <a:buNone/>
              </a:pPr>
              <a:r>
                <a:rPr lang="en-US" sz="950" dirty="0" err="1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Promocion</a:t>
              </a:r>
              <a:r>
                <a:rPr lang="en-US" sz="95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;</a:t>
              </a:r>
            </a:p>
            <a:p>
              <a:pPr marL="0" indent="0" algn="l">
                <a:buNone/>
              </a:pPr>
              <a:r>
                <a:rPr lang="en-US" sz="950" dirty="0" err="1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Fecha</a:t>
              </a:r>
              <a:r>
                <a:rPr lang="en-US" sz="95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sz="950" dirty="0" err="1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comienzo</a:t>
              </a:r>
              <a:r>
                <a:rPr lang="en-US" sz="95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;</a:t>
              </a:r>
            </a:p>
            <a:p>
              <a:pPr marL="0" indent="0" algn="l">
                <a:buNone/>
              </a:pPr>
              <a:r>
                <a:rPr lang="en-US" sz="95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Campus;</a:t>
              </a:r>
            </a:p>
            <a:p>
              <a:pPr marL="0" indent="0" algn="l">
                <a:buNone/>
              </a:pPr>
              <a:r>
                <a:rPr lang="en-US" sz="950" dirty="0" err="1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Proyecto_HLF</a:t>
              </a:r>
              <a:r>
                <a:rPr lang="en-US" sz="95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; </a:t>
              </a:r>
              <a:r>
                <a:rPr lang="en-US" sz="950" dirty="0" err="1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Propyecto</a:t>
              </a:r>
              <a:r>
                <a:rPr lang="en-US" sz="95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 _EDA; </a:t>
              </a:r>
              <a:r>
                <a:rPr lang="en-US" sz="950" dirty="0" err="1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Proyecto_BBDD</a:t>
              </a:r>
              <a:r>
                <a:rPr lang="en-US" sz="95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;</a:t>
              </a:r>
            </a:p>
            <a:p>
              <a:pPr marL="0" indent="0" algn="l">
                <a:buNone/>
              </a:pPr>
              <a:r>
                <a:rPr lang="en-US" sz="950" dirty="0" err="1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Proyecto_ML</a:t>
              </a:r>
              <a:r>
                <a:rPr lang="en-US" sz="950" dirty="0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; </a:t>
              </a:r>
              <a:r>
                <a:rPr lang="en-US" sz="950" dirty="0" err="1">
                  <a:solidFill>
                    <a:srgbClr val="64748B"/>
                  </a:solidFill>
                  <a:latin typeface="Calibri" pitchFamily="34" charset="0"/>
                  <a:cs typeface="Calibri" pitchFamily="34" charset="-120"/>
                </a:rPr>
                <a:t>Proyecto_Deployment</a:t>
              </a:r>
              <a:endParaRPr lang="en-US" sz="950" dirty="0"/>
            </a:p>
          </p:txBody>
        </p:sp>
      </p:grpSp>
      <p:sp>
        <p:nvSpPr>
          <p:cNvPr id="63" name="Text 5">
            <a:extLst>
              <a:ext uri="{FF2B5EF4-FFF2-40B4-BE49-F238E27FC236}">
                <a16:creationId xmlns:a16="http://schemas.microsoft.com/office/drawing/2014/main" id="{199F3A7A-98D6-7620-B028-5F392A736654}"/>
              </a:ext>
            </a:extLst>
          </p:cNvPr>
          <p:cNvSpPr/>
          <p:nvPr/>
        </p:nvSpPr>
        <p:spPr>
          <a:xfrm>
            <a:off x="448056" y="3388559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Nombe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;</a:t>
            </a:r>
          </a:p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Email;</a:t>
            </a:r>
          </a:p>
          <a:p>
            <a:pPr marL="0" indent="0" algn="l">
              <a:buNone/>
            </a:pP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Promocion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;</a:t>
            </a:r>
          </a:p>
          <a:p>
            <a:pPr marL="0" indent="0" algn="l">
              <a:buNone/>
            </a:pP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Fecha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comienzo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;</a:t>
            </a:r>
          </a:p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Campus;</a:t>
            </a:r>
          </a:p>
          <a:p>
            <a:pPr marL="0" indent="0" algn="l">
              <a:buNone/>
            </a:pP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Proyecto_WebDev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; Proyecto _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FrontEnd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;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Proyecto_Backend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;</a:t>
            </a:r>
          </a:p>
          <a:p>
            <a:pPr marL="0" indent="0" algn="l">
              <a:buNone/>
            </a:pP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Proyecto_React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;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Proyecto_FullStack</a:t>
            </a:r>
            <a:endParaRPr lang="en-US" sz="950" dirty="0"/>
          </a:p>
        </p:txBody>
      </p:sp>
      <p:sp>
        <p:nvSpPr>
          <p:cNvPr id="65" name="Text 5">
            <a:extLst>
              <a:ext uri="{FF2B5EF4-FFF2-40B4-BE49-F238E27FC236}">
                <a16:creationId xmlns:a16="http://schemas.microsoft.com/office/drawing/2014/main" id="{0C5FFFB5-544B-879E-8E28-8252631A457E}"/>
              </a:ext>
            </a:extLst>
          </p:cNvPr>
          <p:cNvSpPr/>
          <p:nvPr/>
        </p:nvSpPr>
        <p:spPr>
          <a:xfrm>
            <a:off x="3300984" y="3388559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Nombe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;</a:t>
            </a:r>
          </a:p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Email;</a:t>
            </a:r>
          </a:p>
          <a:p>
            <a:pPr marL="0" indent="0" algn="l">
              <a:buNone/>
            </a:pP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Promocion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;</a:t>
            </a:r>
          </a:p>
          <a:p>
            <a:pPr marL="0" indent="0" algn="l">
              <a:buNone/>
            </a:pP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Fecha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comienzo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;</a:t>
            </a:r>
          </a:p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Campus;</a:t>
            </a:r>
          </a:p>
          <a:p>
            <a:pPr marL="0" indent="0" algn="l">
              <a:buNone/>
            </a:pP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Proyecto_WebDev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; Proyecto _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FrontEnd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;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Proyecto_Backend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;</a:t>
            </a:r>
          </a:p>
          <a:p>
            <a:pPr marL="0" indent="0" algn="l">
              <a:buNone/>
            </a:pP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Proyecto_React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;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Proyecto_FullStack</a:t>
            </a:r>
            <a:endParaRPr lang="en-US" sz="950" dirty="0"/>
          </a:p>
        </p:txBody>
      </p:sp>
      <p:sp>
        <p:nvSpPr>
          <p:cNvPr id="66" name="Text 5">
            <a:extLst>
              <a:ext uri="{FF2B5EF4-FFF2-40B4-BE49-F238E27FC236}">
                <a16:creationId xmlns:a16="http://schemas.microsoft.com/office/drawing/2014/main" id="{BE82103E-45F5-AD50-B65B-5A22B2222F31}"/>
              </a:ext>
            </a:extLst>
          </p:cNvPr>
          <p:cNvSpPr/>
          <p:nvPr/>
        </p:nvSpPr>
        <p:spPr>
          <a:xfrm>
            <a:off x="6153912" y="2496311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Nombe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;</a:t>
            </a:r>
          </a:p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Rol;</a:t>
            </a:r>
          </a:p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Vertical;</a:t>
            </a:r>
          </a:p>
          <a:p>
            <a:pPr marL="0" indent="0" algn="l">
              <a:buNone/>
            </a:pP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Promocion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;</a:t>
            </a:r>
          </a:p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Campus;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F09B25-F3B2-4357-BBBD-3B7ABF29D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6755D88-5048-DA17-7963-69AB335DC6C6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B4A"/>
          </a:solidFill>
          <a:ln/>
        </p:spPr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3E903561-52C4-3602-66FC-6302C6C3C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02920" cy="50292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AB765B93-17F7-6444-2D8A-200ABE88C0AF}"/>
              </a:ext>
            </a:extLst>
          </p:cNvPr>
          <p:cNvSpPr/>
          <p:nvPr/>
        </p:nvSpPr>
        <p:spPr>
          <a:xfrm>
            <a:off x="914400" y="914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Diagrama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inicial</a:t>
            </a:r>
            <a:endParaRPr lang="en-US" sz="2200" dirty="0"/>
          </a:p>
        </p:txBody>
      </p:sp>
      <p:grpSp>
        <p:nvGrpSpPr>
          <p:cNvPr id="55" name="Grupo 54">
            <a:extLst>
              <a:ext uri="{FF2B5EF4-FFF2-40B4-BE49-F238E27FC236}">
                <a16:creationId xmlns:a16="http://schemas.microsoft.com/office/drawing/2014/main" id="{AB692B94-1AF0-A94A-02C1-8B78B10DD87B}"/>
              </a:ext>
            </a:extLst>
          </p:cNvPr>
          <p:cNvGrpSpPr/>
          <p:nvPr/>
        </p:nvGrpSpPr>
        <p:grpSpPr>
          <a:xfrm>
            <a:off x="6358890" y="300228"/>
            <a:ext cx="2651760" cy="490982"/>
            <a:chOff x="320040" y="1051560"/>
            <a:chExt cx="2651760" cy="658368"/>
          </a:xfrm>
        </p:grpSpPr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642BC884-7D17-F005-FF69-5A2520F60A3E}"/>
                </a:ext>
              </a:extLst>
            </p:cNvPr>
            <p:cNvSpPr/>
            <p:nvPr/>
          </p:nvSpPr>
          <p:spPr>
            <a:xfrm>
              <a:off x="320040" y="1051560"/>
              <a:ext cx="2651760" cy="65836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127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B2079A38-1261-C91D-9754-8E9055B9CCF0}"/>
                </a:ext>
              </a:extLst>
            </p:cNvPr>
            <p:cNvSpPr/>
            <p:nvPr/>
          </p:nvSpPr>
          <p:spPr>
            <a:xfrm>
              <a:off x="320040" y="1051560"/>
              <a:ext cx="54864" cy="658368"/>
            </a:xfrm>
            <a:prstGeom prst="rect">
              <a:avLst/>
            </a:prstGeom>
            <a:solidFill>
              <a:srgbClr val="0D9488"/>
            </a:solidFill>
            <a:ln/>
          </p:spPr>
        </p:sp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D9FEDCF8-B6DE-4EDF-399D-E6A5A3D35B4B}"/>
                </a:ext>
              </a:extLst>
            </p:cNvPr>
            <p:cNvSpPr/>
            <p:nvPr/>
          </p:nvSpPr>
          <p:spPr>
            <a:xfrm>
              <a:off x="448056" y="1106424"/>
              <a:ext cx="2468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Consolas" pitchFamily="34" charset="0"/>
                </a:rPr>
                <a:t>DIAGRAMA RELACIONAL E-R</a:t>
              </a:r>
              <a:endParaRPr lang="en-US" sz="1100" dirty="0"/>
            </a:p>
          </p:txBody>
        </p:sp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8EDB5AE0-6DED-A445-4AFA-AD4EEF0AEA21}"/>
                </a:ext>
              </a:extLst>
            </p:cNvPr>
            <p:cNvSpPr/>
            <p:nvPr/>
          </p:nvSpPr>
          <p:spPr>
            <a:xfrm>
              <a:off x="448056" y="1380744"/>
              <a:ext cx="24688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endParaRPr lang="en-US" sz="950" dirty="0"/>
            </a:p>
          </p:txBody>
        </p:sp>
      </p:grpSp>
      <p:pic>
        <p:nvPicPr>
          <p:cNvPr id="50" name="Imagen 49">
            <a:extLst>
              <a:ext uri="{FF2B5EF4-FFF2-40B4-BE49-F238E27FC236}">
                <a16:creationId xmlns:a16="http://schemas.microsoft.com/office/drawing/2014/main" id="{726697BE-0B37-857A-900D-69083A426E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27" b="4319"/>
          <a:stretch>
            <a:fillRect/>
          </a:stretch>
        </p:blipFill>
        <p:spPr>
          <a:xfrm>
            <a:off x="1334805" y="995786"/>
            <a:ext cx="6711854" cy="405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071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4B859D-FD1F-F8C3-2C5D-091C696D0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CC37C74-0F81-C4B9-BDCE-00CAA886E195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B4A"/>
          </a:solidFill>
          <a:ln/>
        </p:spPr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0A1BAEFF-6799-DF17-15D7-57BC2B899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02920" cy="50292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BAB05B43-05E0-0069-85B2-F65A69F7DBC9}"/>
              </a:ext>
            </a:extLst>
          </p:cNvPr>
          <p:cNvSpPr/>
          <p:nvPr/>
        </p:nvSpPr>
        <p:spPr>
          <a:xfrm>
            <a:off x="914400" y="914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Tratamientos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de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datos</a:t>
            </a:r>
            <a:endParaRPr lang="en-US" sz="2200" dirty="0"/>
          </a:p>
        </p:txBody>
      </p:sp>
      <p:pic>
        <p:nvPicPr>
          <p:cNvPr id="50" name="Imagen 49">
            <a:extLst>
              <a:ext uri="{FF2B5EF4-FFF2-40B4-BE49-F238E27FC236}">
                <a16:creationId xmlns:a16="http://schemas.microsoft.com/office/drawing/2014/main" id="{991E3E1F-C8F9-1951-3425-980727F99C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894"/>
          <a:stretch>
            <a:fillRect/>
          </a:stretch>
        </p:blipFill>
        <p:spPr>
          <a:xfrm>
            <a:off x="525780" y="1147763"/>
            <a:ext cx="2171700" cy="1544638"/>
          </a:xfrm>
          <a:prstGeom prst="rect">
            <a:avLst/>
          </a:prstGeom>
        </p:spPr>
      </p:pic>
      <p:pic>
        <p:nvPicPr>
          <p:cNvPr id="52" name="Imagen 51">
            <a:extLst>
              <a:ext uri="{FF2B5EF4-FFF2-40B4-BE49-F238E27FC236}">
                <a16:creationId xmlns:a16="http://schemas.microsoft.com/office/drawing/2014/main" id="{12756ABE-A11D-3A71-F8CC-815863E7FF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6038" y="914400"/>
            <a:ext cx="5287962" cy="4229100"/>
          </a:xfrm>
          <a:prstGeom prst="rect">
            <a:avLst/>
          </a:prstGeom>
        </p:spPr>
      </p:pic>
      <p:pic>
        <p:nvPicPr>
          <p:cNvPr id="54" name="Imagen 53">
            <a:extLst>
              <a:ext uri="{FF2B5EF4-FFF2-40B4-BE49-F238E27FC236}">
                <a16:creationId xmlns:a16="http://schemas.microsoft.com/office/drawing/2014/main" id="{78BAB5B8-F5B2-8EA3-5E15-A5C92C5CE6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" y="3030537"/>
            <a:ext cx="2419350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380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CA4C4D-5CE1-B405-71DA-0BE3DD0E2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848A72F-276D-8A6A-1E8F-AD5BD9B7BC24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B4A"/>
          </a:solidFill>
          <a:ln/>
        </p:spPr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667573D4-AA82-FCFC-19B9-EA0E84972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02920" cy="50292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E6184FE3-F1D5-387A-AB05-62BA8F9F1791}"/>
              </a:ext>
            </a:extLst>
          </p:cNvPr>
          <p:cNvSpPr/>
          <p:nvPr/>
        </p:nvSpPr>
        <p:spPr>
          <a:xfrm>
            <a:off x="914400" y="914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Diagramas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Finales</a:t>
            </a:r>
            <a:endParaRPr lang="en-US" sz="2200" dirty="0"/>
          </a:p>
        </p:txBody>
      </p:sp>
      <p:grpSp>
        <p:nvGrpSpPr>
          <p:cNvPr id="49" name="Grupo 48">
            <a:extLst>
              <a:ext uri="{FF2B5EF4-FFF2-40B4-BE49-F238E27FC236}">
                <a16:creationId xmlns:a16="http://schemas.microsoft.com/office/drawing/2014/main" id="{7A0EB530-FD01-283E-020D-3582FAF8A400}"/>
              </a:ext>
            </a:extLst>
          </p:cNvPr>
          <p:cNvGrpSpPr/>
          <p:nvPr/>
        </p:nvGrpSpPr>
        <p:grpSpPr>
          <a:xfrm>
            <a:off x="6217920" y="164592"/>
            <a:ext cx="2651760" cy="658368"/>
            <a:chOff x="320040" y="1051560"/>
            <a:chExt cx="2651760" cy="658368"/>
          </a:xfrm>
        </p:grpSpPr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447FC83F-9092-B1C3-2DDB-9A3159E11227}"/>
                </a:ext>
              </a:extLst>
            </p:cNvPr>
            <p:cNvSpPr/>
            <p:nvPr/>
          </p:nvSpPr>
          <p:spPr>
            <a:xfrm>
              <a:off x="320040" y="1051560"/>
              <a:ext cx="2651760" cy="65836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127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C47D06D7-6A59-0F4B-62DF-30B2FEB799C1}"/>
                </a:ext>
              </a:extLst>
            </p:cNvPr>
            <p:cNvSpPr/>
            <p:nvPr/>
          </p:nvSpPr>
          <p:spPr>
            <a:xfrm>
              <a:off x="320040" y="1051560"/>
              <a:ext cx="54864" cy="658368"/>
            </a:xfrm>
            <a:prstGeom prst="rect">
              <a:avLst/>
            </a:prstGeom>
            <a:solidFill>
              <a:srgbClr val="0D9488"/>
            </a:solidFill>
            <a:ln/>
          </p:spPr>
        </p:sp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C0BB79DD-2067-89ED-6BE4-883C2B0DACA6}"/>
                </a:ext>
              </a:extLst>
            </p:cNvPr>
            <p:cNvSpPr/>
            <p:nvPr/>
          </p:nvSpPr>
          <p:spPr>
            <a:xfrm>
              <a:off x="448056" y="1106424"/>
              <a:ext cx="2468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Consolas" pitchFamily="34" charset="0"/>
                </a:rPr>
                <a:t>DIAGRAMA ENTIDAD RELACION E-R</a:t>
              </a:r>
              <a:endParaRPr lang="en-US" sz="1100" dirty="0"/>
            </a:p>
          </p:txBody>
        </p:sp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22F9CACC-373E-8593-62EF-F10A8C290248}"/>
                </a:ext>
              </a:extLst>
            </p:cNvPr>
            <p:cNvSpPr/>
            <p:nvPr/>
          </p:nvSpPr>
          <p:spPr>
            <a:xfrm>
              <a:off x="448056" y="1380744"/>
              <a:ext cx="24688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endParaRPr lang="en-US" sz="950" dirty="0"/>
            </a:p>
          </p:txBody>
        </p:sp>
      </p:grpSp>
      <p:pic>
        <p:nvPicPr>
          <p:cNvPr id="11" name="Imagen 10">
            <a:extLst>
              <a:ext uri="{FF2B5EF4-FFF2-40B4-BE49-F238E27FC236}">
                <a16:creationId xmlns:a16="http://schemas.microsoft.com/office/drawing/2014/main" id="{853BF1C4-C84B-19C0-937A-668439CF89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4937" y="1078992"/>
            <a:ext cx="6334125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725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19E78E-88F9-AAF4-F081-7410B13AC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5BDB5E2-6A98-2D65-3FA6-270536FDAEB5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B4A"/>
          </a:solidFill>
          <a:ln/>
        </p:spPr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1072C559-5E95-F784-B465-E5321992D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02920" cy="50292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E7F6442E-3914-23A1-E005-25F4CF1EAADF}"/>
              </a:ext>
            </a:extLst>
          </p:cNvPr>
          <p:cNvSpPr/>
          <p:nvPr/>
        </p:nvSpPr>
        <p:spPr>
          <a:xfrm>
            <a:off x="914400" y="914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</a:t>
            </a:r>
            <a:endParaRPr lang="en-US" sz="22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BF184EB-A3A7-8A30-8C42-339D835CA687}"/>
              </a:ext>
            </a:extLst>
          </p:cNvPr>
          <p:cNvSpPr/>
          <p:nvPr/>
        </p:nvSpPr>
        <p:spPr>
          <a:xfrm>
            <a:off x="320040" y="1051560"/>
            <a:ext cx="26517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B8F81F46-9B9F-F737-E7D9-D5E5B282470B}"/>
              </a:ext>
            </a:extLst>
          </p:cNvPr>
          <p:cNvSpPr/>
          <p:nvPr/>
        </p:nvSpPr>
        <p:spPr>
          <a:xfrm>
            <a:off x="320040" y="1051560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0C865FC-6220-B6E2-D125-90624BDC614B}"/>
              </a:ext>
            </a:extLst>
          </p:cNvPr>
          <p:cNvSpPr/>
          <p:nvPr/>
        </p:nvSpPr>
        <p:spPr>
          <a:xfrm>
            <a:off x="448056" y="11064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campus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E8229BF-A224-8575-7719-703933580F1D}"/>
              </a:ext>
            </a:extLst>
          </p:cNvPr>
          <p:cNvSpPr/>
          <p:nvPr/>
        </p:nvSpPr>
        <p:spPr>
          <a:xfrm>
            <a:off x="448056" y="13807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Sedes: Madrid, Valencia</a:t>
            </a:r>
            <a:endParaRPr lang="en-US" sz="9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8CACCFC2-978B-2FA6-3D5B-1819DF4F1F44}"/>
              </a:ext>
            </a:extLst>
          </p:cNvPr>
          <p:cNvSpPr/>
          <p:nvPr/>
        </p:nvSpPr>
        <p:spPr>
          <a:xfrm>
            <a:off x="3154680" y="1051560"/>
            <a:ext cx="26517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6C1A1B1B-B718-854A-C9B4-AAD25776A46F}"/>
              </a:ext>
            </a:extLst>
          </p:cNvPr>
          <p:cNvSpPr/>
          <p:nvPr/>
        </p:nvSpPr>
        <p:spPr>
          <a:xfrm>
            <a:off x="3154680" y="1051560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4192111F-F50B-8E77-736F-E09FF52C84F4}"/>
              </a:ext>
            </a:extLst>
          </p:cNvPr>
          <p:cNvSpPr/>
          <p:nvPr/>
        </p:nvSpPr>
        <p:spPr>
          <a:xfrm>
            <a:off x="3282696" y="11064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vertical</a:t>
            </a:r>
            <a:endParaRPr lang="en-US" sz="11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78FAC32-7A9F-164B-3B68-7205EA6F9C97}"/>
              </a:ext>
            </a:extLst>
          </p:cNvPr>
          <p:cNvSpPr/>
          <p:nvPr/>
        </p:nvSpPr>
        <p:spPr>
          <a:xfrm>
            <a:off x="3282696" y="13807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/ FullStack</a:t>
            </a:r>
            <a:endParaRPr lang="en-US" sz="95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31414067-E685-A119-C6E7-A5511DFDCE09}"/>
              </a:ext>
            </a:extLst>
          </p:cNvPr>
          <p:cNvSpPr/>
          <p:nvPr/>
        </p:nvSpPr>
        <p:spPr>
          <a:xfrm>
            <a:off x="5989320" y="1051560"/>
            <a:ext cx="26517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37E9267A-EFDA-C5B8-23BB-B1D276A76270}"/>
              </a:ext>
            </a:extLst>
          </p:cNvPr>
          <p:cNvSpPr/>
          <p:nvPr/>
        </p:nvSpPr>
        <p:spPr>
          <a:xfrm>
            <a:off x="5989320" y="1051560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A219D1EA-0CF1-FBDD-6928-74815D9E6564}"/>
              </a:ext>
            </a:extLst>
          </p:cNvPr>
          <p:cNvSpPr/>
          <p:nvPr/>
        </p:nvSpPr>
        <p:spPr>
          <a:xfrm>
            <a:off x="6117336" y="11064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promocion</a:t>
            </a:r>
            <a:endParaRPr lang="en-US" sz="11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C8EB244B-CE9C-E93A-C864-8FB28491BBD9}"/>
              </a:ext>
            </a:extLst>
          </p:cNvPr>
          <p:cNvSpPr/>
          <p:nvPr/>
        </p:nvSpPr>
        <p:spPr>
          <a:xfrm>
            <a:off x="6117336" y="13807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Cohorte + año</a:t>
            </a:r>
            <a:endParaRPr lang="en-US" sz="95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948469F1-D6CB-E9DB-F1DC-1B2A3B77F3CC}"/>
              </a:ext>
            </a:extLst>
          </p:cNvPr>
          <p:cNvSpPr/>
          <p:nvPr/>
        </p:nvSpPr>
        <p:spPr>
          <a:xfrm>
            <a:off x="320040" y="1837944"/>
            <a:ext cx="26517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33E5C18A-DCFA-1D87-09B5-A58B38CE56DE}"/>
              </a:ext>
            </a:extLst>
          </p:cNvPr>
          <p:cNvSpPr/>
          <p:nvPr/>
        </p:nvSpPr>
        <p:spPr>
          <a:xfrm>
            <a:off x="320040" y="1837944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1468D280-F504-F7CE-BEDE-49DB67F6E177}"/>
              </a:ext>
            </a:extLst>
          </p:cNvPr>
          <p:cNvSpPr/>
          <p:nvPr/>
        </p:nvSpPr>
        <p:spPr>
          <a:xfrm>
            <a:off x="448056" y="18928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modalidad</a:t>
            </a:r>
            <a:endParaRPr lang="en-US" sz="11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18CE9AF7-1DCD-ECAB-C36D-93366A18A3C6}"/>
              </a:ext>
            </a:extLst>
          </p:cNvPr>
          <p:cNvSpPr/>
          <p:nvPr/>
        </p:nvSpPr>
        <p:spPr>
          <a:xfrm>
            <a:off x="448056" y="21671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Presencial / Online</a:t>
            </a:r>
            <a:endParaRPr lang="en-US" sz="95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FF915280-DBAD-919A-D0B2-D2746A1FFD1B}"/>
              </a:ext>
            </a:extLst>
          </p:cNvPr>
          <p:cNvSpPr/>
          <p:nvPr/>
        </p:nvSpPr>
        <p:spPr>
          <a:xfrm>
            <a:off x="3154680" y="1837944"/>
            <a:ext cx="26517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356870EE-5D44-8E6B-7A81-1FF5FA2C2C70}"/>
              </a:ext>
            </a:extLst>
          </p:cNvPr>
          <p:cNvSpPr/>
          <p:nvPr/>
        </p:nvSpPr>
        <p:spPr>
          <a:xfrm>
            <a:off x="3154680" y="1837944"/>
            <a:ext cx="54864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E6D69479-6FFD-5631-0E78-817BCD3632DC}"/>
              </a:ext>
            </a:extLst>
          </p:cNvPr>
          <p:cNvSpPr/>
          <p:nvPr/>
        </p:nvSpPr>
        <p:spPr>
          <a:xfrm>
            <a:off x="3282696" y="18928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</a:t>
            </a:r>
            <a:endParaRPr lang="en-US" sz="11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5DA95441-D645-456F-A358-2C59EF4BE1DD}"/>
              </a:ext>
            </a:extLst>
          </p:cNvPr>
          <p:cNvSpPr/>
          <p:nvPr/>
        </p:nvSpPr>
        <p:spPr>
          <a:xfrm>
            <a:off x="3282696" y="21671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/ Lead Instructor</a:t>
            </a:r>
            <a:endParaRPr lang="en-US" sz="95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A6AC0F52-B446-333D-360C-1DC9DA606770}"/>
              </a:ext>
            </a:extLst>
          </p:cNvPr>
          <p:cNvSpPr/>
          <p:nvPr/>
        </p:nvSpPr>
        <p:spPr>
          <a:xfrm>
            <a:off x="5989320" y="1837944"/>
            <a:ext cx="26517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290C973E-31AD-ACD3-5B3D-A2807D8DB0CB}"/>
              </a:ext>
            </a:extLst>
          </p:cNvPr>
          <p:cNvSpPr/>
          <p:nvPr/>
        </p:nvSpPr>
        <p:spPr>
          <a:xfrm>
            <a:off x="5989320" y="1837944"/>
            <a:ext cx="54864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CDCD5295-6664-1DF5-FB86-833CF8405963}"/>
              </a:ext>
            </a:extLst>
          </p:cNvPr>
          <p:cNvSpPr/>
          <p:nvPr/>
        </p:nvSpPr>
        <p:spPr>
          <a:xfrm>
            <a:off x="6117336" y="18928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proyecto_tipo</a:t>
            </a:r>
            <a:endParaRPr lang="en-US" sz="110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7C7C6FD5-252B-8806-DBA9-DFD694E86B81}"/>
              </a:ext>
            </a:extLst>
          </p:cNvPr>
          <p:cNvSpPr/>
          <p:nvPr/>
        </p:nvSpPr>
        <p:spPr>
          <a:xfrm>
            <a:off x="6117336" y="21671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por vertical</a:t>
            </a:r>
            <a:endParaRPr lang="en-US" sz="950" dirty="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4E99DDF8-1E51-7F92-2ACC-59CF5D86E854}"/>
              </a:ext>
            </a:extLst>
          </p:cNvPr>
          <p:cNvSpPr/>
          <p:nvPr/>
        </p:nvSpPr>
        <p:spPr>
          <a:xfrm>
            <a:off x="320040" y="2624328"/>
            <a:ext cx="26517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08B778E5-84A6-6A70-3ECB-A530A497A255}"/>
              </a:ext>
            </a:extLst>
          </p:cNvPr>
          <p:cNvSpPr/>
          <p:nvPr/>
        </p:nvSpPr>
        <p:spPr>
          <a:xfrm>
            <a:off x="320040" y="2624328"/>
            <a:ext cx="54864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A3E07B12-1497-EB85-678B-0CC1FFC6849E}"/>
              </a:ext>
            </a:extLst>
          </p:cNvPr>
          <p:cNvSpPr/>
          <p:nvPr/>
        </p:nvSpPr>
        <p:spPr>
          <a:xfrm>
            <a:off x="448056" y="26791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</a:t>
            </a:r>
            <a:endParaRPr lang="en-US" sz="1100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9A0DB4EC-E7A1-2089-DCC8-C4F83FC31912}"/>
              </a:ext>
            </a:extLst>
          </p:cNvPr>
          <p:cNvSpPr/>
          <p:nvPr/>
        </p:nvSpPr>
        <p:spPr>
          <a:xfrm>
            <a:off x="448056" y="29535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Campus+Vertical+Promo+Modalidad</a:t>
            </a:r>
            <a:endParaRPr lang="en-US" sz="950" dirty="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0953AFC5-21CA-BB21-6777-176BDD8369EF}"/>
              </a:ext>
            </a:extLst>
          </p:cNvPr>
          <p:cNvSpPr/>
          <p:nvPr/>
        </p:nvSpPr>
        <p:spPr>
          <a:xfrm>
            <a:off x="3154680" y="2624328"/>
            <a:ext cx="26517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AAB2F83D-5D49-88FE-B83A-4B87771D59D3}"/>
              </a:ext>
            </a:extLst>
          </p:cNvPr>
          <p:cNvSpPr/>
          <p:nvPr/>
        </p:nvSpPr>
        <p:spPr>
          <a:xfrm>
            <a:off x="3154680" y="2624328"/>
            <a:ext cx="54864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892E5EB6-982A-2C0C-AC15-D16E99458DF3}"/>
              </a:ext>
            </a:extLst>
          </p:cNvPr>
          <p:cNvSpPr/>
          <p:nvPr/>
        </p:nvSpPr>
        <p:spPr>
          <a:xfrm>
            <a:off x="3282696" y="26791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estudiante</a:t>
            </a:r>
            <a:endParaRPr lang="en-US" sz="1100" dirty="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105304CA-2841-2107-6D33-0FBC0F3F8A70}"/>
              </a:ext>
            </a:extLst>
          </p:cNvPr>
          <p:cNvSpPr/>
          <p:nvPr/>
        </p:nvSpPr>
        <p:spPr>
          <a:xfrm>
            <a:off x="3282696" y="29535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Alumnos asignados a grupo</a:t>
            </a:r>
            <a:endParaRPr lang="en-US" sz="950" dirty="0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EC960232-EAEB-F7DB-F0AA-1FCE6E52EF37}"/>
              </a:ext>
            </a:extLst>
          </p:cNvPr>
          <p:cNvSpPr/>
          <p:nvPr/>
        </p:nvSpPr>
        <p:spPr>
          <a:xfrm>
            <a:off x="5989320" y="2624328"/>
            <a:ext cx="26517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A034F7F8-A733-5510-50A7-4063812C0A99}"/>
              </a:ext>
            </a:extLst>
          </p:cNvPr>
          <p:cNvSpPr/>
          <p:nvPr/>
        </p:nvSpPr>
        <p:spPr>
          <a:xfrm>
            <a:off x="5989320" y="2624328"/>
            <a:ext cx="54864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FE748038-7B87-818F-F0E4-AFE6255EEBF7}"/>
              </a:ext>
            </a:extLst>
          </p:cNvPr>
          <p:cNvSpPr/>
          <p:nvPr/>
        </p:nvSpPr>
        <p:spPr>
          <a:xfrm>
            <a:off x="6117336" y="26791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calificacion</a:t>
            </a:r>
            <a:endParaRPr lang="en-US" sz="1100" dirty="0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9418C090-E259-0E45-3DC2-1774B100F4A1}"/>
              </a:ext>
            </a:extLst>
          </p:cNvPr>
          <p:cNvSpPr/>
          <p:nvPr/>
        </p:nvSpPr>
        <p:spPr>
          <a:xfrm>
            <a:off x="6117336" y="29535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por proyecto</a:t>
            </a:r>
            <a:endParaRPr lang="en-US" sz="950" dirty="0"/>
          </a:p>
        </p:txBody>
      </p:sp>
      <p:sp>
        <p:nvSpPr>
          <p:cNvPr id="41" name="Shape 38">
            <a:extLst>
              <a:ext uri="{FF2B5EF4-FFF2-40B4-BE49-F238E27FC236}">
                <a16:creationId xmlns:a16="http://schemas.microsoft.com/office/drawing/2014/main" id="{62AA46D8-0EFC-525B-6125-1E6F53DB1C31}"/>
              </a:ext>
            </a:extLst>
          </p:cNvPr>
          <p:cNvSpPr/>
          <p:nvPr/>
        </p:nvSpPr>
        <p:spPr>
          <a:xfrm>
            <a:off x="320040" y="3410712"/>
            <a:ext cx="26517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568B88C1-38B4-CDFF-7731-6130673EA8F5}"/>
              </a:ext>
            </a:extLst>
          </p:cNvPr>
          <p:cNvSpPr/>
          <p:nvPr/>
        </p:nvSpPr>
        <p:spPr>
          <a:xfrm>
            <a:off x="320040" y="3410712"/>
            <a:ext cx="54864" cy="6583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9463EC5F-DD25-8886-E1CF-CE30B6E868B8}"/>
              </a:ext>
            </a:extLst>
          </p:cNvPr>
          <p:cNvSpPr/>
          <p:nvPr/>
        </p:nvSpPr>
        <p:spPr>
          <a:xfrm>
            <a:off x="448056" y="34655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profesor</a:t>
            </a:r>
            <a:endParaRPr lang="en-US" sz="1100" dirty="0"/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CC50A620-FFC9-4BD5-B455-87A016122FF9}"/>
              </a:ext>
            </a:extLst>
          </p:cNvPr>
          <p:cNvSpPr/>
          <p:nvPr/>
        </p:nvSpPr>
        <p:spPr>
          <a:xfrm>
            <a:off x="448056" y="37398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Claustro con rol asignado</a:t>
            </a:r>
            <a:endParaRPr lang="en-US" sz="950" dirty="0"/>
          </a:p>
        </p:txBody>
      </p:sp>
      <p:sp>
        <p:nvSpPr>
          <p:cNvPr id="45" name="Shape 42">
            <a:extLst>
              <a:ext uri="{FF2B5EF4-FFF2-40B4-BE49-F238E27FC236}">
                <a16:creationId xmlns:a16="http://schemas.microsoft.com/office/drawing/2014/main" id="{E2F11046-FE7B-D74C-63B1-61B2448AD9DC}"/>
              </a:ext>
            </a:extLst>
          </p:cNvPr>
          <p:cNvSpPr/>
          <p:nvPr/>
        </p:nvSpPr>
        <p:spPr>
          <a:xfrm>
            <a:off x="3154680" y="3410712"/>
            <a:ext cx="26517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Shape 43">
            <a:extLst>
              <a:ext uri="{FF2B5EF4-FFF2-40B4-BE49-F238E27FC236}">
                <a16:creationId xmlns:a16="http://schemas.microsoft.com/office/drawing/2014/main" id="{D8EB5B7C-B575-E25F-778B-879B9EBA026F}"/>
              </a:ext>
            </a:extLst>
          </p:cNvPr>
          <p:cNvSpPr/>
          <p:nvPr/>
        </p:nvSpPr>
        <p:spPr>
          <a:xfrm>
            <a:off x="3154680" y="3410712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D7AD845E-B1F3-3651-BD64-962A366A596B}"/>
              </a:ext>
            </a:extLst>
          </p:cNvPr>
          <p:cNvSpPr/>
          <p:nvPr/>
        </p:nvSpPr>
        <p:spPr>
          <a:xfrm>
            <a:off x="3282696" y="34655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profesor_grupo</a:t>
            </a:r>
            <a:endParaRPr lang="en-US" sz="1100" dirty="0"/>
          </a:p>
        </p:txBody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AD2E0F17-8CE1-9A1E-4C2B-C8ECA2199F47}"/>
              </a:ext>
            </a:extLst>
          </p:cNvPr>
          <p:cNvSpPr/>
          <p:nvPr/>
        </p:nvSpPr>
        <p:spPr>
          <a:xfrm>
            <a:off x="3282696" y="37398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profesor ↔ grupo</a:t>
            </a:r>
            <a:endParaRPr lang="en-US" sz="950" dirty="0"/>
          </a:p>
        </p:txBody>
      </p:sp>
      <p:grpSp>
        <p:nvGrpSpPr>
          <p:cNvPr id="49" name="Grupo 48">
            <a:extLst>
              <a:ext uri="{FF2B5EF4-FFF2-40B4-BE49-F238E27FC236}">
                <a16:creationId xmlns:a16="http://schemas.microsoft.com/office/drawing/2014/main" id="{F62099FE-4F0B-742D-0A6A-09E3C4AFB966}"/>
              </a:ext>
            </a:extLst>
          </p:cNvPr>
          <p:cNvGrpSpPr/>
          <p:nvPr/>
        </p:nvGrpSpPr>
        <p:grpSpPr>
          <a:xfrm>
            <a:off x="6217920" y="164592"/>
            <a:ext cx="2651760" cy="658368"/>
            <a:chOff x="320040" y="1051560"/>
            <a:chExt cx="2651760" cy="658368"/>
          </a:xfrm>
        </p:grpSpPr>
        <p:sp>
          <p:nvSpPr>
            <p:cNvPr id="50" name="Shape 2">
              <a:extLst>
                <a:ext uri="{FF2B5EF4-FFF2-40B4-BE49-F238E27FC236}">
                  <a16:creationId xmlns:a16="http://schemas.microsoft.com/office/drawing/2014/main" id="{868FB794-DD4D-80EC-A5EA-CEF760893BDD}"/>
                </a:ext>
              </a:extLst>
            </p:cNvPr>
            <p:cNvSpPr/>
            <p:nvPr/>
          </p:nvSpPr>
          <p:spPr>
            <a:xfrm>
              <a:off x="320040" y="1051560"/>
              <a:ext cx="2651760" cy="65836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127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51" name="Shape 3">
              <a:extLst>
                <a:ext uri="{FF2B5EF4-FFF2-40B4-BE49-F238E27FC236}">
                  <a16:creationId xmlns:a16="http://schemas.microsoft.com/office/drawing/2014/main" id="{6AA3ADC0-9B1E-152A-9514-158075E9D5C3}"/>
                </a:ext>
              </a:extLst>
            </p:cNvPr>
            <p:cNvSpPr/>
            <p:nvPr/>
          </p:nvSpPr>
          <p:spPr>
            <a:xfrm>
              <a:off x="320040" y="1051560"/>
              <a:ext cx="54864" cy="658368"/>
            </a:xfrm>
            <a:prstGeom prst="rect">
              <a:avLst/>
            </a:prstGeom>
            <a:solidFill>
              <a:srgbClr val="0D9488"/>
            </a:solidFill>
            <a:ln/>
          </p:spPr>
        </p:sp>
        <p:sp>
          <p:nvSpPr>
            <p:cNvPr id="52" name="Text 4">
              <a:extLst>
                <a:ext uri="{FF2B5EF4-FFF2-40B4-BE49-F238E27FC236}">
                  <a16:creationId xmlns:a16="http://schemas.microsoft.com/office/drawing/2014/main" id="{6AACD2DD-B3AD-C3B5-1C14-D9A8C3F7F35D}"/>
                </a:ext>
              </a:extLst>
            </p:cNvPr>
            <p:cNvSpPr/>
            <p:nvPr/>
          </p:nvSpPr>
          <p:spPr>
            <a:xfrm>
              <a:off x="448056" y="1106424"/>
              <a:ext cx="2468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Consolas" pitchFamily="34" charset="0"/>
                </a:rPr>
                <a:t>MODELO LÓGICO</a:t>
              </a:r>
              <a:endParaRPr lang="en-US" sz="1100" dirty="0"/>
            </a:p>
          </p:txBody>
        </p:sp>
        <p:sp>
          <p:nvSpPr>
            <p:cNvPr id="53" name="Text 5">
              <a:extLst>
                <a:ext uri="{FF2B5EF4-FFF2-40B4-BE49-F238E27FC236}">
                  <a16:creationId xmlns:a16="http://schemas.microsoft.com/office/drawing/2014/main" id="{15DB65AA-BD4A-BFFC-0E4F-6C65F09A7279}"/>
                </a:ext>
              </a:extLst>
            </p:cNvPr>
            <p:cNvSpPr/>
            <p:nvPr/>
          </p:nvSpPr>
          <p:spPr>
            <a:xfrm>
              <a:off x="448056" y="1380744"/>
              <a:ext cx="24688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endParaRPr lang="en-US" sz="950" dirty="0"/>
            </a:p>
          </p:txBody>
        </p:sp>
      </p:grpSp>
    </p:spTree>
    <p:extLst>
      <p:ext uri="{BB962C8B-B14F-4D97-AF65-F5344CB8AC3E}">
        <p14:creationId xmlns:p14="http://schemas.microsoft.com/office/powerpoint/2010/main" val="3383474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D6FA7B-54CE-600E-F7B8-604BC3793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491DA3D-7668-56A8-201A-F53963A58898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B4A"/>
          </a:solidFill>
          <a:ln/>
        </p:spPr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CACF8EF8-F3BB-2966-EC49-90779FD83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02920" cy="50292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26F560BF-E915-CC0D-FBF3-7E6C20CD4542}"/>
              </a:ext>
            </a:extLst>
          </p:cNvPr>
          <p:cNvSpPr/>
          <p:nvPr/>
        </p:nvSpPr>
        <p:spPr>
          <a:xfrm>
            <a:off x="914400" y="914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Diagrama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Final</a:t>
            </a:r>
            <a:endParaRPr lang="en-US" sz="2200" dirty="0"/>
          </a:p>
        </p:txBody>
      </p:sp>
      <p:grpSp>
        <p:nvGrpSpPr>
          <p:cNvPr id="49" name="Grupo 48">
            <a:extLst>
              <a:ext uri="{FF2B5EF4-FFF2-40B4-BE49-F238E27FC236}">
                <a16:creationId xmlns:a16="http://schemas.microsoft.com/office/drawing/2014/main" id="{26CBE83E-2CFE-5AF4-34AE-0DCBBA55FD22}"/>
              </a:ext>
            </a:extLst>
          </p:cNvPr>
          <p:cNvGrpSpPr/>
          <p:nvPr/>
        </p:nvGrpSpPr>
        <p:grpSpPr>
          <a:xfrm>
            <a:off x="6217920" y="164592"/>
            <a:ext cx="2651760" cy="658368"/>
            <a:chOff x="320040" y="1051560"/>
            <a:chExt cx="2651760" cy="658368"/>
          </a:xfrm>
        </p:grpSpPr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1CD58BE4-A000-8C75-ADD6-CAA35E7956A9}"/>
                </a:ext>
              </a:extLst>
            </p:cNvPr>
            <p:cNvSpPr/>
            <p:nvPr/>
          </p:nvSpPr>
          <p:spPr>
            <a:xfrm>
              <a:off x="320040" y="1051560"/>
              <a:ext cx="2651760" cy="65836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127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603FB7EE-168E-4E1D-A8B5-7348463C07E1}"/>
                </a:ext>
              </a:extLst>
            </p:cNvPr>
            <p:cNvSpPr/>
            <p:nvPr/>
          </p:nvSpPr>
          <p:spPr>
            <a:xfrm>
              <a:off x="320040" y="1051560"/>
              <a:ext cx="54864" cy="658368"/>
            </a:xfrm>
            <a:prstGeom prst="rect">
              <a:avLst/>
            </a:prstGeom>
            <a:solidFill>
              <a:srgbClr val="0D9488"/>
            </a:solidFill>
            <a:ln/>
          </p:spPr>
        </p:sp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655544A2-C3FE-C655-4EBD-58A012CE101F}"/>
                </a:ext>
              </a:extLst>
            </p:cNvPr>
            <p:cNvSpPr/>
            <p:nvPr/>
          </p:nvSpPr>
          <p:spPr>
            <a:xfrm>
              <a:off x="448056" y="1106424"/>
              <a:ext cx="2468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Consolas" pitchFamily="34" charset="0"/>
                </a:rPr>
                <a:t>MODELO LÓGICO</a:t>
              </a:r>
              <a:endParaRPr lang="en-US" sz="1100" dirty="0"/>
            </a:p>
          </p:txBody>
        </p:sp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40FDCD7B-C967-6258-3E49-571AD3FA2119}"/>
                </a:ext>
              </a:extLst>
            </p:cNvPr>
            <p:cNvSpPr/>
            <p:nvPr/>
          </p:nvSpPr>
          <p:spPr>
            <a:xfrm>
              <a:off x="448056" y="1380744"/>
              <a:ext cx="24688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endParaRPr lang="en-US" sz="950" dirty="0"/>
            </a:p>
          </p:txBody>
        </p:sp>
      </p:grpSp>
      <p:pic>
        <p:nvPicPr>
          <p:cNvPr id="10" name="Imagen 9">
            <a:extLst>
              <a:ext uri="{FF2B5EF4-FFF2-40B4-BE49-F238E27FC236}">
                <a16:creationId xmlns:a16="http://schemas.microsoft.com/office/drawing/2014/main" id="{1F8E9C86-CAC6-6144-E4E1-85A53B4A95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767" y="914400"/>
            <a:ext cx="4809666" cy="4230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954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Lógico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20040" y="914400"/>
            <a:ext cx="3840480" cy="62179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320040" y="914400"/>
            <a:ext cx="54864" cy="621792"/>
          </a:xfrm>
          <a:prstGeom prst="rect">
            <a:avLst/>
          </a:prstGeom>
          <a:solidFill>
            <a:srgbClr val="9B7FE8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9509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7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1207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campus · vertical · promocion · modalidad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0040" y="1664208"/>
            <a:ext cx="3840480" cy="62179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320040" y="1664208"/>
            <a:ext cx="54864" cy="621792"/>
          </a:xfrm>
          <a:prstGeom prst="rect">
            <a:avLst/>
          </a:prstGeom>
          <a:solidFill>
            <a:srgbClr val="3BAE82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17007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A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1956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 (campus + vertical + promo + modalidad)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0040" y="2414016"/>
            <a:ext cx="3840480" cy="62179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320040" y="2414016"/>
            <a:ext cx="54864" cy="621792"/>
          </a:xfrm>
          <a:prstGeom prst="rect">
            <a:avLst/>
          </a:prstGeom>
          <a:solidFill>
            <a:srgbClr val="4A9FD4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24505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Académico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27066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estudiante · calificacion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20040" y="3163824"/>
            <a:ext cx="3840480" cy="62179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320040" y="3163824"/>
            <a:ext cx="54864" cy="621792"/>
          </a:xfrm>
          <a:prstGeom prst="rect">
            <a:avLst/>
          </a:prstGeom>
          <a:solidFill>
            <a:srgbClr val="E07B3A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32004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3456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proyecto_tipo  (por vertical)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20040" y="3913632"/>
            <a:ext cx="3840480" cy="62179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320040" y="3913632"/>
            <a:ext cx="54864" cy="62179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39502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Claustro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7200" y="4206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 · profesor · profesor_grupo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663440" y="868680"/>
            <a:ext cx="4114800" cy="40233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475488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diseño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754880" y="1371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modalidad_id vive en grupo, no en profesor_grupo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754880" y="19019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profesor_grupo es tabla pivote N:M entre profesor y grupo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754880" y="243230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proyecto_tipo está ligado a vertical (DS ≠ FS)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754880" y="296265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calificacion única por (estudiante, proyecto_tipo)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754880" y="34930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tiene UNIQUE (campus, vertical, promo, modalidad)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B4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— Creación de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pgAdmin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 –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Render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93776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principales</a:t>
            </a:r>
            <a:endParaRPr lang="en-US" sz="10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8541F546-A8BA-FF2C-0122-BB126F244D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7600" y="909767"/>
            <a:ext cx="5309136" cy="41422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097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en Render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441450" y="442112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6236BADF-4C87-A110-7126-4EFB40B5E3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580" y="884067"/>
            <a:ext cx="7533533" cy="395234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School Database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Python  · PostgreSQL  ·  Render  ·  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/ Render /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psql</a:t>
            </a:r>
            <a:endParaRPr lang="en-US" sz="13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0E5F5E9E-A092-2B74-7EC2-0099E91861FD}"/>
              </a:ext>
            </a:extLst>
          </p:cNvPr>
          <p:cNvSpPr/>
          <p:nvPr/>
        </p:nvSpPr>
        <p:spPr>
          <a:xfrm>
            <a:off x="40640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chemeClr val="bg1"/>
                </a:solidFill>
              </a:rPr>
              <a:t>https://github.com/Lemnosos/practica_bbdd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416</Words>
  <Application>Microsoft Office PowerPoint</Application>
  <PresentationFormat>Presentación en pantalla (16:9)</PresentationFormat>
  <Paragraphs>114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Bootcamp School DB — The Bridge</dc:title>
  <dc:subject>PptxGenJS Presentation</dc:subject>
  <dc:creator>PptxGenJS</dc:creator>
  <cp:lastModifiedBy>admin</cp:lastModifiedBy>
  <cp:revision>11</cp:revision>
  <dcterms:created xsi:type="dcterms:W3CDTF">2026-05-21T14:51:47Z</dcterms:created>
  <dcterms:modified xsi:type="dcterms:W3CDTF">2026-05-22T04:33:42Z</dcterms:modified>
</cp:coreProperties>
</file>